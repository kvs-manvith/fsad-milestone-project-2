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88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318A-E279-AC8A-96AB-F6F8E7A6C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E075E-C116-0B93-0507-25FA22A72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CE1D0-283F-0EFE-65A6-649B0D49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40BCE-A0EB-CEEF-47AA-A66B9C658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3D125-B2E6-D054-4C32-3C280902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38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01432-6059-2108-8650-39A20E5F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4AE27-3CB2-34E2-32CC-A49887972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F0711-B09C-2418-2024-76614899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11374-87BF-A8F8-EDFB-EBB96B5C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7C702-40D0-1439-6931-6B2D9539B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75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B186-1E1D-6D64-8D10-A0D8AAE4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91311-86FA-BC21-9441-0ADD3F86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98EC1-71E6-7AC8-BE20-B52AAE49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3970B-07ED-2258-7119-3710D3D06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9F6B0-447A-8EED-B575-61921091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438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A770-355E-89C0-E3BA-25C6CB369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103E0-3677-5E26-6A50-16500B298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3DDF9-2954-CF4B-A527-EFDDF3C59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9E045-1C6C-D94F-F92C-D635BB9C5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89F54-167C-EFBF-19D8-AF649448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D74F9-7E8F-3085-0769-3CC5D63C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3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9E1D-FE5F-1E39-852E-378CB0B8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100D7-D035-F140-5630-5A49B487D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12679-6454-9700-693A-A99630E67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A7C9E-82F1-53F2-4CFC-C6E35F1BC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DBFC2-2B41-119E-0ABE-728D5F1B7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57C7A-6DF1-A74C-5244-563C2E45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35506-C067-3F4D-1936-56ACE85F4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E3EF1-1C89-907E-A49A-1AA4E1C7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522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9CE2-1BFA-7A13-21E8-B425738D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D0371-550E-9393-C4F3-31E60427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2BA36-6756-F617-18C1-552044AF9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E2C1F-CF20-BAE6-C28A-CC2502E0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73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01AA12-9626-6DDF-125A-7D67BF38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A3584D-6E91-4B76-5420-489E00B99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9B62C-FCE7-71C6-17C6-FCA752C0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478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D2F5-8F74-2A7A-1EB9-365CC8542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D7E2D-86B1-14C8-9A21-3E4C67F28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3BA45-F5F2-D094-CC24-E07FA9BD4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5C839-DA3E-0F85-5413-77D34B0BD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498AD-5DEF-4609-5FEF-CABC90E9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EC33A-10FB-C4B9-EF78-11E0C7AF1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818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D7A3-6E50-5302-CBF3-FBA0DFBB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91F648-A5AE-7158-520F-CB8EF166F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D885F-A50D-7C28-1136-8F07BDBC8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F98CD-F581-341D-7B84-FC30A68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E5F64-718F-59A6-A4F3-9754ACE0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7AD9D-7B99-73F4-258B-D132C93A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817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2FFB-017F-4749-CBD0-DD72199E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0CDB2-1AE7-AA46-2ABD-0F5AB5D56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4387B-86B3-503D-027E-0A6D531D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FE813-587E-C79E-1528-C7B1B9A7D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0B515-63E9-51AA-3673-AB53B56B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001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57904B-0339-7681-14E4-ADD151663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C7DCB-3532-EEAA-B9AC-382C18EC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DA715-043A-565D-BA78-65DA8324A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DD45F-5750-AA27-F7B0-04B5F179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9181E-41B0-3892-41E2-6E2034DD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86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A3DFB-324D-924C-404A-F46688400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07D29-EAD8-A597-DF23-E84E1DC68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31FA2-E59D-B835-5123-D8A987208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7DC97-58E8-4470-B29A-2445B6B6B06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02E5C-404B-4E5C-8FF8-1FBEAF533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7A12F-F73E-1C42-05DE-39378086D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5A87D-555D-4AF0-9878-DAB04CA7D5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738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747A0D-0394-CB61-D720-EE5F194710B5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0D7325-32E3-1E13-AA94-FEC063FBE243}"/>
              </a:ext>
            </a:extLst>
          </p:cNvPr>
          <p:cNvSpPr/>
          <p:nvPr/>
        </p:nvSpPr>
        <p:spPr>
          <a:xfrm>
            <a:off x="482600" y="736600"/>
            <a:ext cx="3937000" cy="4038600"/>
          </a:xfrm>
          <a:prstGeom prst="roundRect">
            <a:avLst/>
          </a:prstGeom>
          <a:solidFill>
            <a:srgbClr val="1E293B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585AC-7AAA-F6E4-A8B0-D9FD41D8D649}"/>
              </a:ext>
            </a:extLst>
          </p:cNvPr>
          <p:cNvSpPr txBox="1"/>
          <p:nvPr/>
        </p:nvSpPr>
        <p:spPr>
          <a:xfrm>
            <a:off x="685800" y="863600"/>
            <a:ext cx="7112000" cy="5745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3400" b="1">
                <a:solidFill>
                  <a:srgbClr val="F8FAFC"/>
                </a:solidFill>
                <a:latin typeface="Segoe UI Semibold" panose="020B0702040204020203" pitchFamily="34" charset="0"/>
              </a:rPr>
              <a:t>NexusJobs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6CF21-4C84-F679-DC8D-ACAED4E61D94}"/>
              </a:ext>
            </a:extLst>
          </p:cNvPr>
          <p:cNvSpPr txBox="1"/>
          <p:nvPr/>
        </p:nvSpPr>
        <p:spPr>
          <a:xfrm>
            <a:off x="685800" y="1701800"/>
            <a:ext cx="7112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400">
                <a:solidFill>
                  <a:srgbClr val="CBD5E1"/>
                </a:solidFill>
                <a:latin typeface="Segoe UI" panose="020B0502040204020203" pitchFamily="34" charset="0"/>
              </a:rPr>
              <a:t>Full Stack Job Portal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258F07-950A-A046-CE6B-B48C6C3087EC}"/>
              </a:ext>
            </a:extLst>
          </p:cNvPr>
          <p:cNvSpPr txBox="1"/>
          <p:nvPr/>
        </p:nvSpPr>
        <p:spPr>
          <a:xfrm>
            <a:off x="685800" y="2463800"/>
            <a:ext cx="6858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>
                <a:solidFill>
                  <a:srgbClr val="CBD5E1"/>
                </a:solidFill>
                <a:latin typeface="Segoe UI" panose="020B0502040204020203" pitchFamily="34" charset="0"/>
              </a:rPr>
              <a:t>Modern React frontend. Spring Boot backend. Role-based dashboards for Employees, Recruiters, and Admins.</a:t>
            </a:r>
            <a:endParaRPr lang="en-IN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E4F0FA-22B9-F91B-212A-D6377623988E}"/>
              </a:ext>
            </a:extLst>
          </p:cNvPr>
          <p:cNvSpPr/>
          <p:nvPr/>
        </p:nvSpPr>
        <p:spPr>
          <a:xfrm>
            <a:off x="7874000" y="863600"/>
            <a:ext cx="3683000" cy="42672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E8633-CDD9-805A-78F0-8F34C840F39C}"/>
              </a:ext>
            </a:extLst>
          </p:cNvPr>
          <p:cNvSpPr txBox="1"/>
          <p:nvPr/>
        </p:nvSpPr>
        <p:spPr>
          <a:xfrm>
            <a:off x="8204200" y="1244600"/>
            <a:ext cx="2794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F8FAFC"/>
                </a:solidFill>
                <a:latin typeface="Segoe UI Semibold" panose="020B0702040204020203" pitchFamily="34" charset="0"/>
              </a:rPr>
              <a:t>Project Snapshot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EF09DE-209C-12CA-CCA4-48A84F6455BC}"/>
              </a:ext>
            </a:extLst>
          </p:cNvPr>
          <p:cNvSpPr/>
          <p:nvPr/>
        </p:nvSpPr>
        <p:spPr>
          <a:xfrm>
            <a:off x="685800" y="4800600"/>
            <a:ext cx="1676400" cy="482600"/>
          </a:xfrm>
          <a:prstGeom prst="round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A68D34-A3B5-03ED-BF47-8E6BC3A55CAB}"/>
              </a:ext>
            </a:extLst>
          </p:cNvPr>
          <p:cNvSpPr/>
          <p:nvPr/>
        </p:nvSpPr>
        <p:spPr>
          <a:xfrm>
            <a:off x="2514600" y="4800600"/>
            <a:ext cx="1676400" cy="482600"/>
          </a:xfrm>
          <a:prstGeom prst="round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3C7F60A-E004-AFF4-5CE4-87931C7F7B22}"/>
              </a:ext>
            </a:extLst>
          </p:cNvPr>
          <p:cNvSpPr/>
          <p:nvPr/>
        </p:nvSpPr>
        <p:spPr>
          <a:xfrm>
            <a:off x="4343400" y="4800600"/>
            <a:ext cx="1676400" cy="482600"/>
          </a:xfrm>
          <a:prstGeom prst="roundRect">
            <a:avLst/>
          </a:prstGeom>
          <a:solidFill>
            <a:srgbClr val="7C2D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12DBF4-81B2-41B5-0EEB-F6AA126389D4}"/>
              </a:ext>
            </a:extLst>
          </p:cNvPr>
          <p:cNvSpPr txBox="1"/>
          <p:nvPr/>
        </p:nvSpPr>
        <p:spPr>
          <a:xfrm>
            <a:off x="889000" y="4902200"/>
            <a:ext cx="13208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b="1">
                <a:solidFill>
                  <a:srgbClr val="F8FAFC"/>
                </a:solidFill>
                <a:latin typeface="Segoe UI Semibold" panose="020B0702040204020203" pitchFamily="34" charset="0"/>
              </a:rPr>
              <a:t>Role-based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4132B4-E261-D9A1-7C75-E11D9DC08267}"/>
              </a:ext>
            </a:extLst>
          </p:cNvPr>
          <p:cNvSpPr txBox="1"/>
          <p:nvPr/>
        </p:nvSpPr>
        <p:spPr>
          <a:xfrm>
            <a:off x="2717800" y="49022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b="1">
                <a:solidFill>
                  <a:srgbClr val="F8FAFC"/>
                </a:solidFill>
                <a:latin typeface="Segoe UI Semibold" panose="020B0702040204020203" pitchFamily="34" charset="0"/>
              </a:rPr>
              <a:t>Search + Apply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9B38FC-43B8-037B-ADC0-AC3E9ECF4C5A}"/>
              </a:ext>
            </a:extLst>
          </p:cNvPr>
          <p:cNvSpPr txBox="1"/>
          <p:nvPr/>
        </p:nvSpPr>
        <p:spPr>
          <a:xfrm>
            <a:off x="4546600" y="4902200"/>
            <a:ext cx="1371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b="1">
                <a:solidFill>
                  <a:srgbClr val="F8FAFC"/>
                </a:solidFill>
                <a:latin typeface="Segoe UI Semibold" panose="020B0702040204020203" pitchFamily="34" charset="0"/>
              </a:rPr>
              <a:t>Recruiter Tools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396C53-D48B-EF86-20E5-CA4324BF3B32}"/>
              </a:ext>
            </a:extLst>
          </p:cNvPr>
          <p:cNvSpPr txBox="1"/>
          <p:nvPr/>
        </p:nvSpPr>
        <p:spPr>
          <a:xfrm>
            <a:off x="11493500" y="6502400"/>
            <a:ext cx="50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94A3B8"/>
                </a:solidFill>
                <a:latin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5897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A03A13-3290-005B-A222-F49C89F1F57F}"/>
              </a:ext>
            </a:extLst>
          </p:cNvPr>
          <p:cNvSpPr txBox="1"/>
          <p:nvPr/>
        </p:nvSpPr>
        <p:spPr>
          <a:xfrm>
            <a:off x="508000" y="355600"/>
            <a:ext cx="7874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F8FAFC"/>
                </a:solidFill>
                <a:latin typeface="Segoe UI Semibold" panose="020B0702040204020203" pitchFamily="34" charset="0"/>
              </a:rPr>
              <a:t>Project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16602-E90A-8253-4E6D-B8B4B437B096}"/>
              </a:ext>
            </a:extLst>
          </p:cNvPr>
          <p:cNvSpPr txBox="1"/>
          <p:nvPr/>
        </p:nvSpPr>
        <p:spPr>
          <a:xfrm>
            <a:off x="508000" y="838200"/>
            <a:ext cx="8255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" panose="020B0502040204020203" pitchFamily="34" charset="0"/>
              </a:rPr>
              <a:t>A job portal that connects candidates, recruiters, and administrators in one workflow.</a:t>
            </a:r>
            <a:endParaRPr lang="en-IN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E7CAAD-DBA4-688D-092A-3119ED934973}"/>
              </a:ext>
            </a:extLst>
          </p:cNvPr>
          <p:cNvSpPr/>
          <p:nvPr/>
        </p:nvSpPr>
        <p:spPr>
          <a:xfrm>
            <a:off x="508000" y="1524000"/>
            <a:ext cx="3492500" cy="36830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4B0DF-3566-CB44-0A46-13F8F82F0C2C}"/>
              </a:ext>
            </a:extLst>
          </p:cNvPr>
          <p:cNvSpPr/>
          <p:nvPr/>
        </p:nvSpPr>
        <p:spPr>
          <a:xfrm>
            <a:off x="685800" y="1701800"/>
            <a:ext cx="50800" cy="3327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3EDC9-DDFB-B0F0-B108-64F68F210437}"/>
              </a:ext>
            </a:extLst>
          </p:cNvPr>
          <p:cNvSpPr txBox="1"/>
          <p:nvPr/>
        </p:nvSpPr>
        <p:spPr>
          <a:xfrm>
            <a:off x="863600" y="1676400"/>
            <a:ext cx="29591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F8FAFC"/>
                </a:solidFill>
                <a:latin typeface="Segoe UI Semibold" panose="020B0702040204020203" pitchFamily="34" charset="0"/>
              </a:rPr>
              <a:t>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2CE84-2D58-301E-057F-567A39260640}"/>
              </a:ext>
            </a:extLst>
          </p:cNvPr>
          <p:cNvSpPr txBox="1"/>
          <p:nvPr/>
        </p:nvSpPr>
        <p:spPr>
          <a:xfrm>
            <a:off x="863600" y="2082800"/>
            <a:ext cx="2959100" cy="112851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CBD5E1"/>
                </a:solidFill>
                <a:latin typeface="Segoe UI" panose="020B0502040204020203" pitchFamily="34" charset="0"/>
              </a:rPr>
              <a:t>Job discovery, hiring, and application tracking are often scattered across different tools. This project centralizes all three roles into one portal.</a:t>
            </a:r>
            <a:endParaRPr lang="en-IN" sz="14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49ADB2-6A23-73BB-22A0-CBED85F2696B}"/>
              </a:ext>
            </a:extLst>
          </p:cNvPr>
          <p:cNvSpPr/>
          <p:nvPr/>
        </p:nvSpPr>
        <p:spPr>
          <a:xfrm>
            <a:off x="4356100" y="1524000"/>
            <a:ext cx="3492500" cy="36830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B5582F-7203-0269-9931-A258061D93EE}"/>
              </a:ext>
            </a:extLst>
          </p:cNvPr>
          <p:cNvSpPr/>
          <p:nvPr/>
        </p:nvSpPr>
        <p:spPr>
          <a:xfrm>
            <a:off x="4533900" y="1701800"/>
            <a:ext cx="50800" cy="33274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31B12-8B98-6E25-6C32-871C810EBE10}"/>
              </a:ext>
            </a:extLst>
          </p:cNvPr>
          <p:cNvSpPr txBox="1"/>
          <p:nvPr/>
        </p:nvSpPr>
        <p:spPr>
          <a:xfrm>
            <a:off x="4711700" y="1676400"/>
            <a:ext cx="29591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F8FAFC"/>
                </a:solidFill>
                <a:latin typeface="Segoe UI Semibold" panose="020B0702040204020203" pitchFamily="34" charset="0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50C8E-0C53-6A42-EA7A-90BB1FF9E428}"/>
              </a:ext>
            </a:extLst>
          </p:cNvPr>
          <p:cNvSpPr txBox="1"/>
          <p:nvPr/>
        </p:nvSpPr>
        <p:spPr>
          <a:xfrm>
            <a:off x="4711700" y="2082800"/>
            <a:ext cx="2959100" cy="134395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CBD5E1"/>
                </a:solidFill>
                <a:latin typeface="Segoe UI" panose="020B0502040204020203" pitchFamily="34" charset="0"/>
              </a:rPr>
              <a:t>NexusJobs combines searchable listings, secure role routing, application tracking, recruiter dashboards, and admin management inside a single full-stack application.</a:t>
            </a:r>
            <a:endParaRPr lang="en-IN" sz="14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C56483-3CEF-C197-7FB9-8DE3076185CA}"/>
              </a:ext>
            </a:extLst>
          </p:cNvPr>
          <p:cNvSpPr/>
          <p:nvPr/>
        </p:nvSpPr>
        <p:spPr>
          <a:xfrm>
            <a:off x="8204200" y="1524000"/>
            <a:ext cx="3492500" cy="36830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13A6E-DB43-2AD3-F78E-0F12B7EE46C5}"/>
              </a:ext>
            </a:extLst>
          </p:cNvPr>
          <p:cNvSpPr/>
          <p:nvPr/>
        </p:nvSpPr>
        <p:spPr>
          <a:xfrm>
            <a:off x="8382000" y="1701800"/>
            <a:ext cx="50800" cy="33274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430B8A-FCED-CCEA-88EF-19AC44760593}"/>
              </a:ext>
            </a:extLst>
          </p:cNvPr>
          <p:cNvSpPr txBox="1"/>
          <p:nvPr/>
        </p:nvSpPr>
        <p:spPr>
          <a:xfrm>
            <a:off x="8559800" y="1676400"/>
            <a:ext cx="29591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F8FAFC"/>
                </a:solidFill>
                <a:latin typeface="Segoe UI Semibold" panose="020B0702040204020203" pitchFamily="34" charset="0"/>
              </a:rPr>
              <a:t>Outcome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ED7A24-125A-FF99-4A2B-C95E25CFEAFD}"/>
              </a:ext>
            </a:extLst>
          </p:cNvPr>
          <p:cNvSpPr txBox="1"/>
          <p:nvPr/>
        </p:nvSpPr>
        <p:spPr>
          <a:xfrm>
            <a:off x="8559800" y="2082800"/>
            <a:ext cx="2959100" cy="112851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CBD5E1"/>
                </a:solidFill>
                <a:latin typeface="Segoe UI" panose="020B0502040204020203" pitchFamily="34" charset="0"/>
              </a:rPr>
              <a:t>Users can browse and apply quickly, recruiters can post and review applicants, and admins can monitor the entire platform from one control panel.</a:t>
            </a:r>
            <a:endParaRPr lang="en-IN" sz="14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EEFD22-893B-0030-2B98-042847BA1D3D}"/>
              </a:ext>
            </a:extLst>
          </p:cNvPr>
          <p:cNvSpPr txBox="1"/>
          <p:nvPr/>
        </p:nvSpPr>
        <p:spPr>
          <a:xfrm>
            <a:off x="11493500" y="6502400"/>
            <a:ext cx="50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94A3B8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2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2EFA0E-7E68-C80B-40DB-FDFA91E90CC0}"/>
              </a:ext>
            </a:extLst>
          </p:cNvPr>
          <p:cNvSpPr txBox="1"/>
          <p:nvPr/>
        </p:nvSpPr>
        <p:spPr>
          <a:xfrm>
            <a:off x="508000" y="355600"/>
            <a:ext cx="7874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F8FAFC"/>
                </a:solidFill>
                <a:latin typeface="Segoe UI Semibold" panose="020B0702040204020203" pitchFamily="34" charset="0"/>
              </a:rPr>
              <a:t>Technology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FF5CAD-D104-8517-E1F2-51C69494A99C}"/>
              </a:ext>
            </a:extLst>
          </p:cNvPr>
          <p:cNvSpPr txBox="1"/>
          <p:nvPr/>
        </p:nvSpPr>
        <p:spPr>
          <a:xfrm>
            <a:off x="508000" y="838200"/>
            <a:ext cx="787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" panose="020B0502040204020203" pitchFamily="34" charset="0"/>
              </a:rPr>
              <a:t>Frontend, backend, database, and build tooling used in the project.</a:t>
            </a:r>
            <a:endParaRPr lang="en-IN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3D33AA-D64E-4C45-F96C-8155961056D1}"/>
              </a:ext>
            </a:extLst>
          </p:cNvPr>
          <p:cNvSpPr/>
          <p:nvPr/>
        </p:nvSpPr>
        <p:spPr>
          <a:xfrm>
            <a:off x="508000" y="4013200"/>
            <a:ext cx="11176000" cy="17526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164D4C-EB62-36DB-4E33-39BD32C73FDF}"/>
              </a:ext>
            </a:extLst>
          </p:cNvPr>
          <p:cNvSpPr/>
          <p:nvPr/>
        </p:nvSpPr>
        <p:spPr>
          <a:xfrm>
            <a:off x="685800" y="4191000"/>
            <a:ext cx="50800" cy="13970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AAE1A-031B-A6C6-FDD4-5622077BE38F}"/>
              </a:ext>
            </a:extLst>
          </p:cNvPr>
          <p:cNvSpPr txBox="1"/>
          <p:nvPr/>
        </p:nvSpPr>
        <p:spPr>
          <a:xfrm>
            <a:off x="863600" y="4165600"/>
            <a:ext cx="10642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F8FAFC"/>
                </a:solidFill>
                <a:latin typeface="Segoe UI Semibold" panose="020B0702040204020203" pitchFamily="34" charset="0"/>
              </a:rPr>
              <a:t>Design Language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74069-2672-2163-BF18-62008B34EEA7}"/>
              </a:ext>
            </a:extLst>
          </p:cNvPr>
          <p:cNvSpPr txBox="1"/>
          <p:nvPr/>
        </p:nvSpPr>
        <p:spPr>
          <a:xfrm>
            <a:off x="863600" y="4572000"/>
            <a:ext cx="106426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" panose="020B0502040204020203" pitchFamily="34" charset="0"/>
              </a:rPr>
              <a:t>Dark slate surfaces, bright blue accents, glass-like cards, and motion-focused UI styling create a premium visual identity for the portal.</a:t>
            </a:r>
            <a:endParaRPr lang="en-IN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0595C-BC4C-8786-A5FE-5882819304AA}"/>
              </a:ext>
            </a:extLst>
          </p:cNvPr>
          <p:cNvSpPr txBox="1"/>
          <p:nvPr/>
        </p:nvSpPr>
        <p:spPr>
          <a:xfrm>
            <a:off x="11493500" y="6502400"/>
            <a:ext cx="50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94A3B8"/>
                </a:solidFill>
                <a:latin typeface="Segoe UI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72035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1B9595-8929-D4D1-25FD-F14CABD7B143}"/>
              </a:ext>
            </a:extLst>
          </p:cNvPr>
          <p:cNvSpPr txBox="1"/>
          <p:nvPr/>
        </p:nvSpPr>
        <p:spPr>
          <a:xfrm>
            <a:off x="508000" y="355600"/>
            <a:ext cx="7874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F8FAFC"/>
                </a:solidFill>
                <a:latin typeface="Segoe UI Semibold" panose="020B0702040204020203" pitchFamily="34" charset="0"/>
              </a:rPr>
              <a:t>Core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E4AEA-FDED-5A87-9EC4-73064A0721B0}"/>
              </a:ext>
            </a:extLst>
          </p:cNvPr>
          <p:cNvSpPr txBox="1"/>
          <p:nvPr/>
        </p:nvSpPr>
        <p:spPr>
          <a:xfrm>
            <a:off x="508000" y="838200"/>
            <a:ext cx="787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" panose="020B0502040204020203" pitchFamily="34" charset="0"/>
              </a:rPr>
              <a:t>The application is organized around the tasks each role needs to complete.</a:t>
            </a:r>
            <a:endParaRPr lang="en-IN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4C8523-C681-E7C2-773F-BD9AD803EC16}"/>
              </a:ext>
            </a:extLst>
          </p:cNvPr>
          <p:cNvSpPr/>
          <p:nvPr/>
        </p:nvSpPr>
        <p:spPr>
          <a:xfrm>
            <a:off x="508000" y="1498600"/>
            <a:ext cx="5207000" cy="18034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C9F031-A479-52F7-0313-439B5353B383}"/>
              </a:ext>
            </a:extLst>
          </p:cNvPr>
          <p:cNvSpPr/>
          <p:nvPr/>
        </p:nvSpPr>
        <p:spPr>
          <a:xfrm>
            <a:off x="685800" y="1676400"/>
            <a:ext cx="50800" cy="1447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E2551-C968-2FAD-8D0F-C078C2202E5C}"/>
              </a:ext>
            </a:extLst>
          </p:cNvPr>
          <p:cNvSpPr txBox="1"/>
          <p:nvPr/>
        </p:nvSpPr>
        <p:spPr>
          <a:xfrm>
            <a:off x="863600" y="1651000"/>
            <a:ext cx="4673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F8FAFC"/>
                </a:solidFill>
                <a:latin typeface="Segoe UI Semibold" panose="020B0702040204020203" pitchFamily="34" charset="0"/>
              </a:rPr>
              <a:t>Job Search &amp; Discovery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EE4BA-B29A-1B5A-37DA-FEDABB027F5A}"/>
              </a:ext>
            </a:extLst>
          </p:cNvPr>
          <p:cNvSpPr txBox="1"/>
          <p:nvPr/>
        </p:nvSpPr>
        <p:spPr>
          <a:xfrm>
            <a:off x="863600" y="2057400"/>
            <a:ext cx="4673600" cy="69762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CBD5E1"/>
                </a:solidFill>
                <a:latin typeface="Segoe UI" panose="020B0502040204020203" pitchFamily="34" charset="0"/>
              </a:rPr>
              <a:t>Search listings by title or company, browse location and salary details, and open a dedicated job application modal.</a:t>
            </a:r>
            <a:endParaRPr lang="en-IN" sz="14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964D68-D1D7-4E74-3633-417AC0F657A2}"/>
              </a:ext>
            </a:extLst>
          </p:cNvPr>
          <p:cNvSpPr/>
          <p:nvPr/>
        </p:nvSpPr>
        <p:spPr>
          <a:xfrm>
            <a:off x="6350000" y="1498600"/>
            <a:ext cx="5181600" cy="18034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D37D5-6D59-2497-2416-5A7B798698CD}"/>
              </a:ext>
            </a:extLst>
          </p:cNvPr>
          <p:cNvSpPr/>
          <p:nvPr/>
        </p:nvSpPr>
        <p:spPr>
          <a:xfrm>
            <a:off x="6527800" y="1676400"/>
            <a:ext cx="50800" cy="1447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E1B8B-A538-8353-2962-05948F172B8D}"/>
              </a:ext>
            </a:extLst>
          </p:cNvPr>
          <p:cNvSpPr txBox="1"/>
          <p:nvPr/>
        </p:nvSpPr>
        <p:spPr>
          <a:xfrm>
            <a:off x="6705600" y="1651000"/>
            <a:ext cx="4648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F8FAFC"/>
                </a:solidFill>
                <a:latin typeface="Segoe UI Semibold" panose="020B0702040204020203" pitchFamily="34" charset="0"/>
              </a:rPr>
              <a:t>Employee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3996D0-93CA-0C0D-92B8-6ADF5E122929}"/>
              </a:ext>
            </a:extLst>
          </p:cNvPr>
          <p:cNvSpPr txBox="1"/>
          <p:nvPr/>
        </p:nvSpPr>
        <p:spPr>
          <a:xfrm>
            <a:off x="6705600" y="2057400"/>
            <a:ext cx="4648200" cy="69762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CBD5E1"/>
                </a:solidFill>
                <a:latin typeface="Segoe UI" panose="020B0502040204020203" pitchFamily="34" charset="0"/>
              </a:rPr>
              <a:t>Submit profile details, degree, skills, experience, cover letter, portfolio, and resume URL. Track status changes after submission.</a:t>
            </a:r>
            <a:endParaRPr lang="en-IN" sz="14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921626-5689-0AC9-F45A-3DD5E9AD1823}"/>
              </a:ext>
            </a:extLst>
          </p:cNvPr>
          <p:cNvSpPr/>
          <p:nvPr/>
        </p:nvSpPr>
        <p:spPr>
          <a:xfrm>
            <a:off x="508000" y="3581400"/>
            <a:ext cx="5207000" cy="18034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C3166C-A663-F118-D0D5-D1AEE569476E}"/>
              </a:ext>
            </a:extLst>
          </p:cNvPr>
          <p:cNvSpPr/>
          <p:nvPr/>
        </p:nvSpPr>
        <p:spPr>
          <a:xfrm>
            <a:off x="685800" y="3759200"/>
            <a:ext cx="50800" cy="1447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4368C6-944F-E149-B12F-C051FFA59F0F}"/>
              </a:ext>
            </a:extLst>
          </p:cNvPr>
          <p:cNvSpPr txBox="1"/>
          <p:nvPr/>
        </p:nvSpPr>
        <p:spPr>
          <a:xfrm>
            <a:off x="863600" y="3733800"/>
            <a:ext cx="46736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F8FAFC"/>
                </a:solidFill>
                <a:latin typeface="Segoe UI Semibold" panose="020B0702040204020203" pitchFamily="34" charset="0"/>
              </a:rPr>
              <a:t>Recruiter Workspace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04C63A-BC35-1438-A93B-C6091AFE186A}"/>
              </a:ext>
            </a:extLst>
          </p:cNvPr>
          <p:cNvSpPr txBox="1"/>
          <p:nvPr/>
        </p:nvSpPr>
        <p:spPr>
          <a:xfrm>
            <a:off x="863600" y="4140200"/>
            <a:ext cx="46736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CBD5E1"/>
                </a:solidFill>
                <a:latin typeface="Segoe UI" panose="020B0502040204020203" pitchFamily="34" charset="0"/>
              </a:rPr>
              <a:t>Post jobs, manage listings, view applicants for each job, and move candidates through a status pipeline.</a:t>
            </a:r>
            <a:endParaRPr lang="en-IN" sz="14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9E122B-D208-4C17-A58F-E4272A1A2650}"/>
              </a:ext>
            </a:extLst>
          </p:cNvPr>
          <p:cNvSpPr/>
          <p:nvPr/>
        </p:nvSpPr>
        <p:spPr>
          <a:xfrm>
            <a:off x="6350000" y="3581400"/>
            <a:ext cx="5181600" cy="18034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41A7E-7ABF-2EFA-9E82-756005909EFC}"/>
              </a:ext>
            </a:extLst>
          </p:cNvPr>
          <p:cNvSpPr/>
          <p:nvPr/>
        </p:nvSpPr>
        <p:spPr>
          <a:xfrm>
            <a:off x="6527800" y="3759200"/>
            <a:ext cx="50800" cy="1447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13BBF7-A9A0-A0A8-8565-C395B6730908}"/>
              </a:ext>
            </a:extLst>
          </p:cNvPr>
          <p:cNvSpPr txBox="1"/>
          <p:nvPr/>
        </p:nvSpPr>
        <p:spPr>
          <a:xfrm>
            <a:off x="6705600" y="3733800"/>
            <a:ext cx="46482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F8FAFC"/>
                </a:solidFill>
                <a:latin typeface="Segoe UI Semibold" panose="020B0702040204020203" pitchFamily="34" charset="0"/>
              </a:rPr>
              <a:t>Admin Control Panel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C33A61-F6DB-A10D-B460-4654B8776A6B}"/>
              </a:ext>
            </a:extLst>
          </p:cNvPr>
          <p:cNvSpPr txBox="1"/>
          <p:nvPr/>
        </p:nvSpPr>
        <p:spPr>
          <a:xfrm>
            <a:off x="6705600" y="4140200"/>
            <a:ext cx="46482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CBD5E1"/>
                </a:solidFill>
                <a:latin typeface="Segoe UI" panose="020B0502040204020203" pitchFamily="34" charset="0"/>
              </a:rPr>
              <a:t>Review all users, all jobs, and all applications from one dashboard, with delete actions for moderation.</a:t>
            </a:r>
            <a:endParaRPr lang="en-IN" sz="14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88A69C-5CBF-5364-3A94-35C269F73909}"/>
              </a:ext>
            </a:extLst>
          </p:cNvPr>
          <p:cNvSpPr txBox="1"/>
          <p:nvPr/>
        </p:nvSpPr>
        <p:spPr>
          <a:xfrm>
            <a:off x="11493500" y="6502400"/>
            <a:ext cx="50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94A3B8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49995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3E6B59-2567-B86C-5707-E8D23F3C846D}"/>
              </a:ext>
            </a:extLst>
          </p:cNvPr>
          <p:cNvSpPr txBox="1"/>
          <p:nvPr/>
        </p:nvSpPr>
        <p:spPr>
          <a:xfrm>
            <a:off x="508000" y="355600"/>
            <a:ext cx="7874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F8FAFC"/>
                </a:solidFill>
                <a:latin typeface="Segoe UI Semibold" panose="020B0702040204020203" pitchFamily="34" charset="0"/>
              </a:rPr>
              <a:t>User Roles &amp;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8D615-7F68-56BC-BC5A-22D54B1C12A9}"/>
              </a:ext>
            </a:extLst>
          </p:cNvPr>
          <p:cNvSpPr txBox="1"/>
          <p:nvPr/>
        </p:nvSpPr>
        <p:spPr>
          <a:xfrm>
            <a:off x="508000" y="838200"/>
            <a:ext cx="787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" panose="020B0502040204020203" pitchFamily="34" charset="0"/>
              </a:rPr>
              <a:t>Each role is routed to a different dashboard after login.</a:t>
            </a:r>
            <a:endParaRPr lang="en-IN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01E8BC-175B-7243-9FF4-E9AD1310B6D4}"/>
              </a:ext>
            </a:extLst>
          </p:cNvPr>
          <p:cNvSpPr txBox="1"/>
          <p:nvPr/>
        </p:nvSpPr>
        <p:spPr>
          <a:xfrm>
            <a:off x="1117600" y="5334000"/>
            <a:ext cx="96520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 Semibold" panose="020B0702040204020203" pitchFamily="34" charset="0"/>
              </a:rPr>
              <a:t>Login and registration are role-aware, so the landing page routes users directly to the correct workspace.</a:t>
            </a:r>
            <a:endParaRPr lang="en-IN" sz="1600">
              <a:solidFill>
                <a:srgbClr val="CBD5E1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379EC-C759-FED6-1E87-61D08A711005}"/>
              </a:ext>
            </a:extLst>
          </p:cNvPr>
          <p:cNvSpPr txBox="1"/>
          <p:nvPr/>
        </p:nvSpPr>
        <p:spPr>
          <a:xfrm>
            <a:off x="11493500" y="6502400"/>
            <a:ext cx="50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94A3B8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6963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1B5B80-5B2C-897E-306F-A961FB38BFE2}"/>
              </a:ext>
            </a:extLst>
          </p:cNvPr>
          <p:cNvSpPr txBox="1"/>
          <p:nvPr/>
        </p:nvSpPr>
        <p:spPr>
          <a:xfrm>
            <a:off x="508000" y="355600"/>
            <a:ext cx="8382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F8FAFC"/>
                </a:solidFill>
                <a:latin typeface="Segoe UI Semibold" panose="020B0702040204020203" pitchFamily="34" charset="0"/>
              </a:rPr>
              <a:t>Backend Architecture &amp; APIs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DE8A2-39DA-4034-8CBB-83A81E97B2F3}"/>
              </a:ext>
            </a:extLst>
          </p:cNvPr>
          <p:cNvSpPr txBox="1"/>
          <p:nvPr/>
        </p:nvSpPr>
        <p:spPr>
          <a:xfrm>
            <a:off x="508000" y="838200"/>
            <a:ext cx="8890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" panose="020B0502040204020203" pitchFamily="34" charset="0"/>
              </a:rPr>
              <a:t>REST controllers expose the core operations for authentication, jobs, and applications.</a:t>
            </a:r>
            <a:endParaRPr lang="en-IN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55675-E5B3-6CCD-0A8B-C36D7834C6E1}"/>
              </a:ext>
            </a:extLst>
          </p:cNvPr>
          <p:cNvSpPr txBox="1"/>
          <p:nvPr/>
        </p:nvSpPr>
        <p:spPr>
          <a:xfrm>
            <a:off x="11493500" y="6502400"/>
            <a:ext cx="50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94A3B8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7244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B9AF9C-5BE7-6319-A8C1-FDAF49180B16}"/>
              </a:ext>
            </a:extLst>
          </p:cNvPr>
          <p:cNvSpPr txBox="1"/>
          <p:nvPr/>
        </p:nvSpPr>
        <p:spPr>
          <a:xfrm>
            <a:off x="508000" y="355600"/>
            <a:ext cx="7874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F8FAFC"/>
                </a:solidFill>
                <a:latin typeface="Segoe UI Semibold" panose="020B0702040204020203" pitchFamily="34" charset="0"/>
              </a:rPr>
              <a:t>Data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53F55A-7FF3-3026-7DDF-E14FC4F800FA}"/>
              </a:ext>
            </a:extLst>
          </p:cNvPr>
          <p:cNvSpPr txBox="1"/>
          <p:nvPr/>
        </p:nvSpPr>
        <p:spPr>
          <a:xfrm>
            <a:off x="508000" y="838200"/>
            <a:ext cx="8382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" panose="020B0502040204020203" pitchFamily="34" charset="0"/>
              </a:rPr>
              <a:t>The app centers on three entities with clear many-to-one relationships.</a:t>
            </a:r>
            <a:endParaRPr lang="en-IN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6EA06-CF60-7614-4367-70B77231402B}"/>
              </a:ext>
            </a:extLst>
          </p:cNvPr>
          <p:cNvSpPr txBox="1"/>
          <p:nvPr/>
        </p:nvSpPr>
        <p:spPr>
          <a:xfrm>
            <a:off x="1524000" y="5334000"/>
            <a:ext cx="8890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 Semibold" panose="020B0702040204020203" pitchFamily="34" charset="0"/>
              </a:rPr>
              <a:t>Relationships: Recruiter → Jobs, Employee → Applications, Job → Applications</a:t>
            </a:r>
            <a:endParaRPr lang="en-IN" sz="1600">
              <a:solidFill>
                <a:srgbClr val="CBD5E1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35D1F-B038-B585-7DB8-62390CCD06B0}"/>
              </a:ext>
            </a:extLst>
          </p:cNvPr>
          <p:cNvSpPr txBox="1"/>
          <p:nvPr/>
        </p:nvSpPr>
        <p:spPr>
          <a:xfrm>
            <a:off x="11493500" y="6502400"/>
            <a:ext cx="50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94A3B8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51094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3456F-539D-E011-08B6-93FBB7823D9D}"/>
              </a:ext>
            </a:extLst>
          </p:cNvPr>
          <p:cNvSpPr txBox="1"/>
          <p:nvPr/>
        </p:nvSpPr>
        <p:spPr>
          <a:xfrm>
            <a:off x="508000" y="355600"/>
            <a:ext cx="7874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F8FAFC"/>
                </a:solidFill>
                <a:latin typeface="Segoe UI Semibold" panose="020B0702040204020203" pitchFamily="34" charset="0"/>
              </a:rPr>
              <a:t>Run Instructions &amp; Demo Access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9E7F6-0BD5-AF99-6C8F-C9E58CB034DC}"/>
              </a:ext>
            </a:extLst>
          </p:cNvPr>
          <p:cNvSpPr txBox="1"/>
          <p:nvPr/>
        </p:nvSpPr>
        <p:spPr>
          <a:xfrm>
            <a:off x="508000" y="838200"/>
            <a:ext cx="914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" panose="020B0502040204020203" pitchFamily="34" charset="0"/>
              </a:rPr>
              <a:t>The backend runs on port 8080 and the frontend on port 5173.</a:t>
            </a:r>
            <a:endParaRPr lang="en-IN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F4162-2F5C-A1A4-1693-B985AD54842C}"/>
              </a:ext>
            </a:extLst>
          </p:cNvPr>
          <p:cNvSpPr txBox="1"/>
          <p:nvPr/>
        </p:nvSpPr>
        <p:spPr>
          <a:xfrm>
            <a:off x="990600" y="5029200"/>
            <a:ext cx="102108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 Semibold" panose="020B0702040204020203" pitchFamily="34" charset="0"/>
              </a:rPr>
              <a:t>The backend seeds four demo jobs automatically, so the portal is ready to explore immediately after startup.</a:t>
            </a:r>
            <a:endParaRPr lang="en-IN" sz="1600">
              <a:solidFill>
                <a:srgbClr val="CBD5E1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383554-EFD5-AC71-0EBA-36C9F0013FB2}"/>
              </a:ext>
            </a:extLst>
          </p:cNvPr>
          <p:cNvSpPr txBox="1"/>
          <p:nvPr/>
        </p:nvSpPr>
        <p:spPr>
          <a:xfrm>
            <a:off x="11493500" y="6502400"/>
            <a:ext cx="50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94A3B8"/>
                </a:solidFill>
                <a:latin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8089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7A07F-6D48-DA0E-EE4C-214D21B0F1D1}"/>
              </a:ext>
            </a:extLst>
          </p:cNvPr>
          <p:cNvSpPr txBox="1"/>
          <p:nvPr/>
        </p:nvSpPr>
        <p:spPr>
          <a:xfrm>
            <a:off x="508000" y="355600"/>
            <a:ext cx="7874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8FAFC"/>
                </a:solidFill>
                <a:latin typeface="Segoe UI Semibold" panose="020B0702040204020203" pitchFamily="34" charset="0"/>
              </a:rPr>
              <a:t>Key Highlights and Future Scope</a:t>
            </a:r>
            <a:endParaRPr lang="en-IN" sz="2600" b="1">
              <a:solidFill>
                <a:srgbClr val="F8FAFC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2D4E54-8FE8-D2C1-49F8-CD9D25292C6B}"/>
              </a:ext>
            </a:extLst>
          </p:cNvPr>
          <p:cNvSpPr txBox="1"/>
          <p:nvPr/>
        </p:nvSpPr>
        <p:spPr>
          <a:xfrm>
            <a:off x="508000" y="838200"/>
            <a:ext cx="88900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CBD5E1"/>
                </a:solidFill>
                <a:latin typeface="Segoe UI" panose="020B0502040204020203" pitchFamily="34" charset="0"/>
              </a:rPr>
              <a:t>The current build is complete enough for a milestone demo, but several production hardening steps remain.</a:t>
            </a:r>
            <a:endParaRPr lang="en-IN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8DA8B-8C17-CDA0-8DB8-A15CD785E66F}"/>
              </a:ext>
            </a:extLst>
          </p:cNvPr>
          <p:cNvSpPr txBox="1"/>
          <p:nvPr/>
        </p:nvSpPr>
        <p:spPr>
          <a:xfrm>
            <a:off x="1676400" y="5334000"/>
            <a:ext cx="8839200" cy="5129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CBD5E1"/>
                </a:solidFill>
                <a:latin typeface="Segoe UI" panose="020B0502040204020203" pitchFamily="34" charset="0"/>
              </a:rPr>
              <a:t>This deck can be extended with screenshots once you place the original template or app captures in the workspace.</a:t>
            </a:r>
            <a:endParaRPr lang="en-IN" sz="15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18AB4-46B8-AC60-441F-45779D2F2508}"/>
              </a:ext>
            </a:extLst>
          </p:cNvPr>
          <p:cNvSpPr txBox="1"/>
          <p:nvPr/>
        </p:nvSpPr>
        <p:spPr>
          <a:xfrm>
            <a:off x="11493500" y="6502400"/>
            <a:ext cx="50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94A3B8"/>
                </a:solidFill>
                <a:latin typeface="Segoe UI" panose="020B0502040204020203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62399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Office PowerPoint</Application>
  <PresentationFormat>Custom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MANVITH KVS</dc:creator>
  <cp:lastModifiedBy>MANVITH KVS</cp:lastModifiedBy>
  <cp:revision>1</cp:revision>
  <dcterms:created xsi:type="dcterms:W3CDTF">2026-04-20T18:10:42Z</dcterms:created>
  <dcterms:modified xsi:type="dcterms:W3CDTF">2026-04-20T18:10:43Z</dcterms:modified>
</cp:coreProperties>
</file>